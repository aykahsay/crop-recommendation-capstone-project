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2C6D33-53EF-4454-8970-7B8B6C5A4D84}">
  <a:tblStyle styleId="{D82C6D33-53EF-4454-8970-7B8B6C5A4D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85323" y="1605855"/>
            <a:ext cx="1082135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Smart Crop Recommendation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42975" y="2510730"/>
            <a:ext cx="103060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Capstone Project | FS 2025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42975" y="3223170"/>
            <a:ext cx="10306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Team Member: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Group D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942975" y="3670845"/>
            <a:ext cx="10306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r>
              <a:rPr lang="en-US" sz="15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DSA3020 - Principles of Machine Learning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42975" y="4118520"/>
            <a:ext cx="10306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US" sz="15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Dr. Dennis Njagi | </a:t>
            </a:r>
            <a:r>
              <a:rPr lang="en-US" sz="1500" b="1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lang="en-US" sz="15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11/30/2025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42975" y="4804320"/>
            <a:ext cx="10306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USIU – AFRICA | SCHOOL OF SCIENCE AND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595437" y="1728787"/>
            <a:ext cx="900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64E3B"/>
                </a:solidFill>
                <a:latin typeface="Roboto"/>
                <a:ea typeface="Roboto"/>
                <a:cs typeface="Roboto"/>
                <a:sym typeface="Roboto"/>
              </a:rPr>
              <a:t>Executive Summary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619750" y="2643187"/>
            <a:ext cx="9525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809750" y="2967037"/>
            <a:ext cx="85725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This project addresses the challenge of optimal crop selection by developing a machine learning-based recommendation system. Using soil nutrients (N, P, K) and environmental data, we trained multiple models to maximize yield.</a:t>
            </a:r>
            <a:endParaRPr sz="1600" b="1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809749" y="4589049"/>
            <a:ext cx="9001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Key Outcome: The </a:t>
            </a:r>
            <a:r>
              <a:rPr lang="en-US" sz="1500" b="1" i="1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Reduced &amp; Tuned Random Forest Classifier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achieved </a:t>
            </a:r>
            <a:r>
              <a:rPr lang="en-US" sz="1500" b="1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99</a:t>
            </a:r>
            <a:r>
              <a:rPr lang="en-US" sz="15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% test accuracy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 A </a:t>
            </a:r>
            <a:r>
              <a:rPr lang="en-US" sz="1500" b="1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web application was successfully deployed to translate these findings into an accessible tool for farmers.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8768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609600" y="443627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The Challenge</a:t>
            </a:r>
            <a:endParaRPr sz="1800" dirty="0"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09600" y="1375351"/>
            <a:ext cx="52006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Trial-and-Error Farming</a:t>
            </a:r>
            <a:endParaRPr sz="1800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609600" y="1816227"/>
            <a:ext cx="49530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Traditional agriculture often relies on intuition or general guidelines, ignoring micro-variations in soil and climate. This leads to suboptimal yields and resource wastage.</a:t>
            </a:r>
            <a:endParaRPr sz="1800"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643312"/>
            <a:ext cx="52006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The Data-Driven Solution</a:t>
            </a:r>
            <a:endParaRPr sz="1800"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076700"/>
            <a:ext cx="49530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Our objective is to replace guesswork with precision. By treating crop selection as a </a:t>
            </a:r>
            <a:r>
              <a:rPr lang="en-US" sz="18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multiclass classification problem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we leverage ML algorithms to analyze complex relationships between soil properties and environmental factors.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1805" y="-10015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873" y="1404938"/>
            <a:ext cx="3078465" cy="2925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8124" y="1404939"/>
            <a:ext cx="3047100" cy="2925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0838" y="1404938"/>
            <a:ext cx="4021330" cy="289655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326790" y="2470626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Logistic Regression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399339" y="297688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Provides a simple, interpretable baseline but struggles with non-linear agricultural data patterns.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3700528" y="2480786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Decision Trees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3663738" y="295402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Captures non-linear relationships effectively but requires pruning to prevent overfitting.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7187457" y="1860629"/>
            <a:ext cx="248486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6817464" y="2480785"/>
            <a:ext cx="354573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An ensemble method that reduces overfitting by combining multiple trees, often yielding higher accuracy.</a:t>
            </a:r>
            <a:endParaRPr dirty="0"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2215" y="183594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11023" y="183594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Literature Review: Algorithm Selection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8;p16" descr="image.png">
            <a:extLst>
              <a:ext uri="{FF2B5EF4-FFF2-40B4-BE49-F238E27FC236}">
                <a16:creationId xmlns:a16="http://schemas.microsoft.com/office/drawing/2014/main" id="{72AF727E-DC86-599A-909D-E075C630A9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6790" y="4460554"/>
            <a:ext cx="5116096" cy="210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18;p16" descr="image.png">
            <a:extLst>
              <a:ext uri="{FF2B5EF4-FFF2-40B4-BE49-F238E27FC236}">
                <a16:creationId xmlns:a16="http://schemas.microsoft.com/office/drawing/2014/main" id="{056E7A34-0C2F-A5ED-C5AC-7937323BAC9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94195" y="4488976"/>
            <a:ext cx="4871386" cy="21004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E18E0-F4BF-43BC-462F-D10BD04A3633}"/>
              </a:ext>
            </a:extLst>
          </p:cNvPr>
          <p:cNvSpPr txBox="1"/>
          <p:nvPr/>
        </p:nvSpPr>
        <p:spPr>
          <a:xfrm>
            <a:off x="513204" y="4716446"/>
            <a:ext cx="41946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rgbClr val="047857"/>
                </a:solidFill>
                <a:latin typeface="Roboto"/>
                <a:ea typeface="Roboto"/>
                <a:cs typeface="Roboto"/>
              </a:rPr>
              <a:t>Support Vector Classifier (SVC)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433B8-B5FA-3D7C-BEC0-521894F5B386}"/>
              </a:ext>
            </a:extLst>
          </p:cNvPr>
          <p:cNvSpPr txBox="1"/>
          <p:nvPr/>
        </p:nvSpPr>
        <p:spPr>
          <a:xfrm>
            <a:off x="531378" y="5308580"/>
            <a:ext cx="418955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74151"/>
                </a:solidFill>
                <a:latin typeface="Lato"/>
                <a:ea typeface="Lato"/>
                <a:cs typeface="Lato"/>
              </a:rPr>
              <a:t>A supervised learning algorithm that finds the optimal hyperplane to separate classes in high-dimensional space, effective for both linear and non-linear classification using kernel tricks</a:t>
            </a:r>
            <a:r>
              <a:rPr lang="en-US" sz="2000" dirty="0"/>
              <a:t>.</a:t>
            </a:r>
            <a:endParaRPr lang="en-US" sz="2000" dirty="0">
              <a:solidFill>
                <a:srgbClr val="047857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3599E-CB24-4242-9041-C1C77432EB7D}"/>
              </a:ext>
            </a:extLst>
          </p:cNvPr>
          <p:cNvSpPr txBox="1"/>
          <p:nvPr/>
        </p:nvSpPr>
        <p:spPr>
          <a:xfrm>
            <a:off x="6096000" y="4667759"/>
            <a:ext cx="40907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 err="1">
                <a:solidFill>
                  <a:srgbClr val="047857"/>
                </a:solidFill>
                <a:latin typeface="Roboto"/>
                <a:ea typeface="Roboto"/>
                <a:cs typeface="Roboto"/>
              </a:rPr>
              <a:t>XGBoost</a:t>
            </a:r>
            <a:r>
              <a:rPr lang="en-US" dirty="0"/>
              <a:t> </a:t>
            </a:r>
            <a:r>
              <a:rPr lang="en-US" sz="2100" dirty="0">
                <a:solidFill>
                  <a:srgbClr val="047857"/>
                </a:solidFill>
                <a:latin typeface="Roboto"/>
                <a:ea typeface="Roboto"/>
                <a:cs typeface="Roboto"/>
              </a:rPr>
              <a:t>Classifier (XGBC)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77746E-FAD3-0F22-59E2-B70DBB146DC4}"/>
              </a:ext>
            </a:extLst>
          </p:cNvPr>
          <p:cNvSpPr txBox="1"/>
          <p:nvPr/>
        </p:nvSpPr>
        <p:spPr>
          <a:xfrm>
            <a:off x="5994195" y="5242166"/>
            <a:ext cx="48713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374151"/>
                </a:solidFill>
                <a:latin typeface="Lato"/>
                <a:ea typeface="Lato"/>
                <a:cs typeface="Lato"/>
              </a:rPr>
              <a:t>An advanced gradient boosting algorithm that builds an ensemble of weak learners sequentially, optimizing performance while applying regularization to reduce overfitting and improve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335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1472461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1. Business Understanding: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Goal is to recommend crops for max yield.</a:t>
            </a:r>
            <a:endParaRPr sz="180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2495264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Data Collection: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Collected public datasets on N, P, K, pH, and climate.</a:t>
            </a:r>
            <a:endParaRPr sz="180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3476340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3. Data Preparation: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Cleaning, scaling (</a:t>
            </a:r>
            <a:r>
              <a:rPr lang="en-US" sz="180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MinMax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/Standard), and encoding labels.</a:t>
            </a:r>
            <a:endParaRPr sz="18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4499892"/>
            <a:ext cx="5238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4. Modeling: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Training </a:t>
            </a:r>
            <a:r>
              <a:rPr lang="en-US" sz="180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LogReg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SVM, RF, </a:t>
            </a:r>
            <a:r>
              <a:rPr lang="en-US" sz="180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XGBoost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395037" y="6267450"/>
            <a:ext cx="5238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b="1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1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Deployment</a:t>
            </a: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endParaRPr sz="180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Methodology: CRISP-DM Framework</a:t>
            </a:r>
            <a:endParaRPr sz="1800"/>
          </a:p>
        </p:txBody>
      </p:sp>
      <p:sp>
        <p:nvSpPr>
          <p:cNvPr id="142" name="Google Shape;142;p17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7;p17">
            <a:extLst>
              <a:ext uri="{FF2B5EF4-FFF2-40B4-BE49-F238E27FC236}">
                <a16:creationId xmlns:a16="http://schemas.microsoft.com/office/drawing/2014/main" id="{09C99F60-BA8A-9325-4323-456FDEA5D9E2}"/>
              </a:ext>
            </a:extLst>
          </p:cNvPr>
          <p:cNvSpPr txBox="1"/>
          <p:nvPr/>
        </p:nvSpPr>
        <p:spPr>
          <a:xfrm>
            <a:off x="571500" y="4942340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b="1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n-US" sz="1800" b="1" dirty="0">
                <a:solidFill>
                  <a:srgbClr val="15803D"/>
                </a:solidFill>
                <a:latin typeface="Lato"/>
                <a:ea typeface="Lato"/>
                <a:cs typeface="Lato"/>
              </a:rPr>
              <a:t>Feature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15803D"/>
                </a:solidFill>
                <a:latin typeface="Lato"/>
                <a:ea typeface="Lato"/>
                <a:cs typeface="Lato"/>
              </a:rPr>
              <a:t>Selection</a:t>
            </a: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</a:t>
            </a:r>
            <a:r>
              <a:rPr lang="en-US" sz="1800" dirty="0"/>
              <a:t>ost relevant input variable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N, P, K, and rain fall and Humidity</a:t>
            </a:r>
            <a:endParaRPr sz="1800" dirty="0"/>
          </a:p>
        </p:txBody>
      </p:sp>
      <p:sp>
        <p:nvSpPr>
          <p:cNvPr id="6" name="Google Shape;140;p17">
            <a:extLst>
              <a:ext uri="{FF2B5EF4-FFF2-40B4-BE49-F238E27FC236}">
                <a16:creationId xmlns:a16="http://schemas.microsoft.com/office/drawing/2014/main" id="{1BBD9F0C-40C3-833B-544B-7AC864A2F0BF}"/>
              </a:ext>
            </a:extLst>
          </p:cNvPr>
          <p:cNvSpPr txBox="1"/>
          <p:nvPr/>
        </p:nvSpPr>
        <p:spPr>
          <a:xfrm>
            <a:off x="571500" y="5676900"/>
            <a:ext cx="5238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-US" sz="18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. Evaluation:</a:t>
            </a:r>
            <a:r>
              <a:rPr lang="en-US" sz="18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Accuracy, Precision, Recall, F1-Score.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20335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6381750" y="2190750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Dataset Features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81750" y="26479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dataset includes critical agricultural metrics: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Nitrogen (N), Phosphorous (P), Potassium (K)</a:t>
            </a: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Temperature, Humidity, pH, and Rainfall.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81750" y="3848100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Preprocessing Steps</a:t>
            </a:r>
            <a:endParaRPr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081212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6648450" y="43148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62750" y="43148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Handled missing values to ensure data integrity.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648450" y="4619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62750" y="46196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Applied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MinMaxScaler</a:t>
            </a: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StandardScaler</a:t>
            </a: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to normalize numeric features.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648450" y="52292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762750" y="52292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Encoded 22 categorical crop labels using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LabelEncoder</a:t>
            </a: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Data Description &amp; Preprocessing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90675"/>
            <a:ext cx="110490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52625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Feature reduction retained these five key variables, simplifying the model without sacrificing accuracy.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Feature Importance Analysis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61474" y="59817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Reduced &amp; Tuned Random Forest Classifier</a:t>
            </a:r>
            <a:r>
              <a:rPr lang="en-US" sz="15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consistently outperformed other models, validating its use for complex multiclass crop prediction.</a:t>
            </a:r>
            <a:endParaRPr dirty="0"/>
          </a:p>
        </p:txBody>
      </p:sp>
      <p:graphicFrame>
        <p:nvGraphicFramePr>
          <p:cNvPr id="176" name="Google Shape;176;p20"/>
          <p:cNvGraphicFramePr/>
          <p:nvPr>
            <p:extLst>
              <p:ext uri="{D42A27DB-BD31-4B8C-83A1-F6EECF244321}">
                <p14:modId xmlns:p14="http://schemas.microsoft.com/office/powerpoint/2010/main" val="1843420331"/>
              </p:ext>
            </p:extLst>
          </p:nvPr>
        </p:nvGraphicFramePr>
        <p:xfrm>
          <a:off x="561474" y="1928812"/>
          <a:ext cx="11059026" cy="2981375"/>
        </p:xfrm>
        <a:graphic>
          <a:graphicData uri="http://schemas.openxmlformats.org/drawingml/2006/table">
            <a:tbl>
              <a:tblPr firstRow="1" bandRow="1">
                <a:noFill/>
                <a:tableStyleId>{D82C6D33-53EF-4454-8970-7B8B6C5A4D84}</a:tableStyleId>
              </a:tblPr>
              <a:tblGrid>
                <a:gridCol w="3556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Logistic Regression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 Tree (Tuned)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XGBoost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64E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 (Tuned)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64E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64E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64E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Selected Model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Google Shape;177;p20"/>
          <p:cNvSpPr/>
          <p:nvPr/>
        </p:nvSpPr>
        <p:spPr>
          <a:xfrm>
            <a:off x="571500" y="3105150"/>
            <a:ext cx="35465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118074" y="3105150"/>
            <a:ext cx="239464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512718" y="3105150"/>
            <a:ext cx="22733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8786068" y="3105150"/>
            <a:ext cx="283443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71500" y="3705225"/>
            <a:ext cx="35465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18074" y="3705225"/>
            <a:ext cx="239464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512718" y="3705225"/>
            <a:ext cx="22733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786068" y="3705225"/>
            <a:ext cx="283443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1500" y="4305300"/>
            <a:ext cx="35465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118074" y="4305300"/>
            <a:ext cx="239464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512718" y="4305300"/>
            <a:ext cx="22733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8786068" y="4305300"/>
            <a:ext cx="2834431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Model Evaluation Metrics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FE6D1B-5E49-C93F-0B48-945389405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576557"/>
              </p:ext>
            </p:extLst>
          </p:nvPr>
        </p:nvGraphicFramePr>
        <p:xfrm>
          <a:off x="571500" y="4913530"/>
          <a:ext cx="11059026" cy="596275"/>
        </p:xfrm>
        <a:graphic>
          <a:graphicData uri="http://schemas.openxmlformats.org/drawingml/2006/table">
            <a:tbl>
              <a:tblPr firstRow="1" bandRow="1">
                <a:noFill/>
                <a:tableStyleId>{D82C6D33-53EF-4454-8970-7B8B6C5A4D84}</a:tableStyleId>
              </a:tblPr>
              <a:tblGrid>
                <a:gridCol w="3556601">
                  <a:extLst>
                    <a:ext uri="{9D8B030D-6E8A-4147-A177-3AD203B41FA5}">
                      <a16:colId xmlns:a16="http://schemas.microsoft.com/office/drawing/2014/main" val="1402324688"/>
                    </a:ext>
                  </a:extLst>
                </a:gridCol>
                <a:gridCol w="2394650">
                  <a:extLst>
                    <a:ext uri="{9D8B030D-6E8A-4147-A177-3AD203B41FA5}">
                      <a16:colId xmlns:a16="http://schemas.microsoft.com/office/drawing/2014/main" val="1599259874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2166029241"/>
                    </a:ext>
                  </a:extLst>
                </a:gridCol>
                <a:gridCol w="2834425">
                  <a:extLst>
                    <a:ext uri="{9D8B030D-6E8A-4147-A177-3AD203B41FA5}">
                      <a16:colId xmlns:a16="http://schemas.microsoft.com/office/drawing/2014/main" val="2456591350"/>
                    </a:ext>
                  </a:extLst>
                </a:gridCol>
              </a:tblGrid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SVC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29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946484" y="3167062"/>
            <a:ext cx="393984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99.9</a:t>
            </a:r>
            <a:r>
              <a:rPr lang="en-US" sz="9000" b="1" i="0" u="none" strike="noStrike" cap="none" dirty="0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1459079" y="4624387"/>
            <a:ext cx="2914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Test Accuracy</a:t>
            </a:r>
            <a:endParaRPr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5457825" y="2805112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Unmatched Reliability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457825" y="3262312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Through rigorous hyperparameter tuning and strategic feature reduction, the Random Forest model achieved perfect classification accuracy on the test set.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457825" y="4319587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This ensures farmers receive trustworthy recommendations based on their specific soil inputs.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Project Key Result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6667500" y="1419225"/>
            <a:ext cx="52006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System Deployment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667500" y="2409825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Streamlit Web Application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667500" y="2867025"/>
            <a:ext cx="49530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To bridge the gap between complex ML code and end-users, the final model was deployed as an interactive web app.</a:t>
            </a:r>
            <a:endParaRPr sz="1600"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6835581" y="434741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Actionable Insights</a:t>
            </a:r>
            <a:endParaRPr dirty="0"/>
          </a:p>
        </p:txBody>
      </p:sp>
      <p:sp>
        <p:nvSpPr>
          <p:cNvPr id="213" name="Google Shape;213;p22"/>
          <p:cNvSpPr txBox="1"/>
          <p:nvPr/>
        </p:nvSpPr>
        <p:spPr>
          <a:xfrm>
            <a:off x="6667500" y="4774982"/>
            <a:ext cx="49530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Farmers can simply input their soil data (N, P, K values) and environmental conditions into the dashboard. The system instantly processes this input and returns the optimal crop choice, enabling real-time, data-driven decision making.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2B996C-9714-F5A6-EB7F-0CE288F19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7368" y="0"/>
            <a:ext cx="63733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440531" y="1917025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800" dirty="0"/>
          </a:p>
        </p:txBody>
      </p:sp>
      <p:sp>
        <p:nvSpPr>
          <p:cNvPr id="220" name="Google Shape;220;p23"/>
          <p:cNvSpPr txBox="1"/>
          <p:nvPr/>
        </p:nvSpPr>
        <p:spPr>
          <a:xfrm>
            <a:off x="440531" y="2441830"/>
            <a:ext cx="5238750" cy="413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project successfully demonstrated that machine learning, specifically Random Forest, can accurately predict crop suitability. Feature reduction proved that a concise set of variables (K, Humidity, Rain) is sufficient for high performance.</a:t>
            </a:r>
            <a:endParaRPr sz="2400" dirty="0"/>
          </a:p>
        </p:txBody>
      </p:sp>
      <p:sp>
        <p:nvSpPr>
          <p:cNvPr id="221" name="Google Shape;221;p23"/>
          <p:cNvSpPr txBox="1"/>
          <p:nvPr/>
        </p:nvSpPr>
        <p:spPr>
          <a:xfrm>
            <a:off x="6096000" y="2090380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Future Enhancements</a:t>
            </a:r>
            <a:endParaRPr sz="1800" dirty="0"/>
          </a:p>
        </p:txBody>
      </p:sp>
      <p:sp>
        <p:nvSpPr>
          <p:cNvPr id="222" name="Google Shape;222;p23"/>
          <p:cNvSpPr txBox="1"/>
          <p:nvPr/>
        </p:nvSpPr>
        <p:spPr>
          <a:xfrm>
            <a:off x="6226968" y="2740914"/>
            <a:ext cx="5238750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Future work will focus on integrating real-time IoT sensors for automatic data collection. We also aim to incorporate additional parameters like soil texture and sunlight duration to further refine the model's precision.</a:t>
            </a:r>
            <a:endParaRPr sz="2400" dirty="0"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Conclusion &amp; Future Work</a:t>
            </a:r>
            <a:endParaRPr sz="1800"/>
          </a:p>
        </p:txBody>
      </p:sp>
      <p:sp>
        <p:nvSpPr>
          <p:cNvPr id="224" name="Google Shape;224;p23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4080748" y="2509837"/>
            <a:ext cx="4030503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64E3B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4176712" y="3405187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  <p:pic>
        <p:nvPicPr>
          <p:cNvPr id="232" name="Google Shape;23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1012" y="411956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1287" y="4119562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571500" y="3248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40327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4817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323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1666875" y="241756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https://media.istockphoto.com/id/1469639791/photo/farmer-using-digital-tablet-in-corn-crop-cultivated-field-with-smart-farming-interface-icons.jpg?s=1024x1024&amp;w=is&amp;k=20&amp;c=e9fuSB_v7p7DinOD14f99n2F8wtCrincQBWqcky-qBU=</a:t>
            </a:r>
            <a:endParaRPr dirty="0"/>
          </a:p>
        </p:txBody>
      </p:sp>
      <p:sp>
        <p:nvSpPr>
          <p:cNvPr id="244" name="Google Shape;244;p25"/>
          <p:cNvSpPr txBox="1"/>
          <p:nvPr/>
        </p:nvSpPr>
        <p:spPr>
          <a:xfrm>
            <a:off x="1666875" y="28613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id="245" name="Google Shape;24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069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1666875" y="340042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https://www.datascience-pm.com/wp-content/uploads/2021/02/CRISP-DM.png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666875" y="36461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www.datascience-pm.com</a:t>
            </a:r>
            <a:endParaRPr/>
          </a:p>
        </p:txBody>
      </p:sp>
      <p:pic>
        <p:nvPicPr>
          <p:cNvPr id="248" name="Google Shape;24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17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666875" y="418519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https://landresources.montana.edu/soilfertility/images/SoilTestKit.jpg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1666875" y="44309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landresources.montana.edu</a:t>
            </a:r>
            <a:endParaRPr/>
          </a:p>
        </p:txBody>
      </p:sp>
      <p:pic>
        <p:nvPicPr>
          <p:cNvPr id="251" name="Google Shape;25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765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66875" y="49699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https://cdn.dribbble.com/userupload/17567390/file/original-d29623f40fa7f8b9e1ddd8bfba67de74.png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521568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dribbble.com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Image Sources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571500" y="1181100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864</Words>
  <Application>Microsoft Office PowerPoint</Application>
  <PresentationFormat>Widescreen</PresentationFormat>
  <Paragraphs>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Roboto</vt:lpstr>
      <vt:lpstr>Lato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AMBACHOW YKALOM</dc:creator>
  <cp:lastModifiedBy>Ambachow y Kahsay</cp:lastModifiedBy>
  <cp:revision>6</cp:revision>
  <dcterms:modified xsi:type="dcterms:W3CDTF">2025-11-30T13:45:09Z</dcterms:modified>
</cp:coreProperties>
</file>